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Inter"/>
      <ns0:bold ns1:id="rIdFont26"/>
      <ns0:regular ns1:id="rIdFont27"/>
    </ns0:embeddedFont>
    <ns0:embeddedFont>
      <ns0:font typeface="Fira Code"/>
      <ns0:bold ns1:id="rIdFont28"/>
      <ns0:regular ns1:id="rIdFont29"/>
    </ns0:embeddedFont>
    <ns0:embeddedFont>
      <ns0:font typeface="Playfair Display"/>
      <ns0:italic ns1:id="rIdFont30"/>
      <ns0:bold ns1:id="rIdFont31"/>
      <ns0:regular ns1:id="rIdFont3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Font26" Type="http://schemas.openxmlformats.org/officeDocument/2006/relationships/font" Target="fonts/b95761aa-2e06-4ffb-a3cc-668a4d8a8236.fntdata" /><ns0:Relationship Id="rIdFont27" Type="http://schemas.openxmlformats.org/officeDocument/2006/relationships/font" Target="fonts/66613b1e-e24f-43a7-8199-48e8303503e1.fntdata" /><ns0:Relationship Id="rIdFont28" Type="http://schemas.openxmlformats.org/officeDocument/2006/relationships/font" Target="fonts/9ea5a0ce-e27f-4061-9754-c9a0699b0537.fntdata" /><ns0:Relationship Id="rIdFont29" Type="http://schemas.openxmlformats.org/officeDocument/2006/relationships/font" Target="fonts/8aa0059b-bbca-4308-9eff-f8a3f03eb949.fntdata" /><ns0:Relationship Id="rIdFont30" Type="http://schemas.openxmlformats.org/officeDocument/2006/relationships/font" Target="fonts/f3582ee4-d178-4f6b-9395-8a79955d71c0.fntdata" /><ns0:Relationship Id="rIdFont31" Type="http://schemas.openxmlformats.org/officeDocument/2006/relationships/font" Target="fonts/419b2e6c-e3f9-44ff-864a-5772fbe5f60c.fntdata" /><ns0:Relationship Id="rIdFont32" Type="http://schemas.openxmlformats.org/officeDocument/2006/relationships/font" Target="fonts/83c0f163-e24f-4db5-b1dc-b933a1c477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954785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0031" y="1865114"/>
            <a:ext cx="407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E0F2FE"/>
                </a:solidFill>
                <a:latin typeface="Inter"/>
              </a:rPr>
              <a:t>ESCRITA CIENTÍFICA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6766" y="2208014"/>
            <a:ext cx="7738467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Playfair Display"/>
              </a:rPr>
              <a:t>Domínio do LaTeX </a:t>
            </a:r>
            <a:r>
              <a:t>
</a:t>
            </a:r>
            <a:r>
              <a:rPr b="1" sz="5400" i="0" u="none">
                <a:solidFill>
                  <a:srgbClr val="F8FAFC"/>
                </a:solidFill>
                <a:latin typeface="Playfair Display"/>
              </a:rPr>
              <a:t> com Overleaf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94513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BD5E1"/>
                </a:solidFill>
                <a:latin typeface="Inter"/>
              </a:rPr>
              <a:t>Curso completo: dos comandos básicos à estruturação de monografias e teses.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00837" y="0"/>
            <a:ext cx="5491162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0837" y="0"/>
            <a:ext cx="9525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46894"/>
            <a:ext cx="68520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 CONCEITO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689794"/>
            <a:ext cx="5855731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Muito além de um processador de texto.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44155"/>
            <a:ext cx="71946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Código-Fonte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96580"/>
            <a:ext cx="68520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Você escreve instruções lógicas, não apenas texto corrido.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01405"/>
            <a:ext cx="71946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Tipografia Perfeita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53830"/>
            <a:ext cx="68520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Algoritmos matemáticos cuidam do espaçamento e hifenização.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58655"/>
            <a:ext cx="71946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Foco no Conteúdo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5311080"/>
            <a:ext cx="685204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O sistema encarrega-se do design visual e formatação.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86880"/>
            <a:ext cx="5238750" cy="4061519"/>
          </a:xfrm>
          <a:prstGeom prst="roundRect">
            <a:avLst>
              <a:gd name="adj" fmla="val 375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05550" y="2186880"/>
            <a:ext cx="5276850" cy="4061519"/>
          </a:xfrm>
          <a:prstGeom prst="roundRect">
            <a:avLst>
              <a:gd name="adj" fmla="val 3752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644080"/>
            <a:ext cx="3429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663130"/>
            <a:ext cx="5715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POR QUE MUDAR?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81000" y="9525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WYSIWYG versus WYSIWYM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329880"/>
            <a:ext cx="567570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Editores Tradicionais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806130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Inter"/>
              </a:rPr>
              <a:t>O que você vê é o que você obtém.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3348930"/>
            <a:ext cx="54102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Inter"/>
              </a:rPr>
              <a:t>Sistema LaTeX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3825180"/>
            <a:ext cx="5405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O que você vê é o que você quer dizer.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23475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23475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Formatação manual e frágil.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0625" y="465385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465385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Quebras de página inesperadas.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507295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507295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Lentidão extrema com muitas imagens.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425380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400" y="425380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Formatação consistente e automática.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5625" y="467290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400" y="467290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Estabilidade absoluta do layout.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5092005"/>
            <a:ext cx="10477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5092005"/>
            <a:ext cx="5119687" cy="3048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E293B"/>
                </a:solidFill>
                <a:latin typeface="Inter"/>
              </a:rPr>
              <a:t>Arquivos texto leves e muito rápidos.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0" y="3017490"/>
            <a:ext cx="54864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4331940"/>
            <a:ext cx="54864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3017490"/>
            <a:ext cx="38100" cy="8572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0" y="4331940"/>
            <a:ext cx="38100" cy="8572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0" y="1668809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ORIGENS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011709"/>
            <a:ext cx="6096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A fundação do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3017490"/>
            <a:ext cx="57531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1978: O Motor 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900" y="3417540"/>
            <a:ext cx="5238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Donald Knuth cria o sistema original visando perfeição na tipografia matemática.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4331940"/>
            <a:ext cx="57531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Inter"/>
              </a:rPr>
              <a:t>1984: As Macros LaTeX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4731990"/>
            <a:ext cx="5238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Leslie Lamport adiciona comandos estruturais simplificados sobre o TeX.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07952"/>
            <a:ext cx="3454449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07952"/>
            <a:ext cx="3454449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07952"/>
            <a:ext cx="3454449" cy="2390775"/>
          </a:xfrm>
          <a:prstGeom prst="roundRect">
            <a:avLst>
              <a:gd name="adj" fmla="val 6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00" y="3365152"/>
            <a:ext cx="5715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0" y="3365152"/>
            <a:ext cx="5715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074" y="3365152"/>
            <a:ext cx="5143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FERRAMENTA MODERNA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381000" y="9525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A Revolução Overleaf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2" y="405095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Inter"/>
              </a:rPr>
              <a:t>100% em Nuvem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93" y="4441477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Nenhuma instalação local. Acesse pelo navegador.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41" y="405095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Inter"/>
              </a:rPr>
              <a:t>Colaboração Ativa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43" y="4441477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Edição simultânea constante com sua equipe.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391" y="4050952"/>
            <a:ext cx="373386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Inter"/>
              </a:rPr>
              <a:t>Modelos Globais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93" y="4441477"/>
            <a:ext cx="35560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Templates prontos das maiores universidades.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90925" y="2956619"/>
            <a:ext cx="17821275" cy="944760"/>
          </a:xfrm>
          <a:prstGeom prst="roundRect">
            <a:avLst>
              <a:gd name="adj" fmla="val 1209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967829"/>
            <a:ext cx="2964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ESTRUTURA BÁSICA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310729"/>
            <a:ext cx="2590323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O seu primeiro documento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261270"/>
            <a:ext cx="24669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Todo documento possui duas áreas distintas: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5725" y="3261419"/>
            <a:ext cx="82962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6A9955"/>
                </a:solidFill>
                <a:latin typeface="Fira Code"/>
              </a:rPr>
              <a:t>% Preâmbulo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\documentclass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article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\usepackage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[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utf8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]{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inputenc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6A9955"/>
                </a:solidFill>
                <a:latin typeface="Fira Code"/>
              </a:rPr>
              <a:t>% Corpo do documento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\begin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document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Olá, mundo científico!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document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985170"/>
            <a:ext cx="1047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985170"/>
            <a:ext cx="2238375" cy="11430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1500" i="0" u="none">
                <a:solidFill>
                  <a:srgbClr val="64748B"/>
                </a:solidFill>
                <a:latin typeface="Inter"/>
              </a:rPr>
              <a:t>Preâmbulo:</a:t>
            </a:r>
            <a:r>
              <a:rPr b="0" sz="1500" i="0" u="none">
                <a:solidFill>
                  <a:srgbClr val="64748B"/>
                </a:solidFill>
                <a:latin typeface="Inter"/>
              </a:rPr>
              <a:t> Define configurações e pacotes.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5128170"/>
            <a:ext cx="1047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5128170"/>
            <a:ext cx="2238375" cy="762000"/>
          </a:xfrm>
          <a:prstGeom prst="rect">
            <a:avLst/>
          </a:prstGeom>
          <a:noFill/>
        </p:spPr>
        <p:txBody>
          <a:bodyPr wrap="square" lIns="104775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1500" i="0" u="none">
                <a:solidFill>
                  <a:srgbClr val="64748B"/>
                </a:solidFill>
                <a:latin typeface="Inter"/>
              </a:rPr>
              <a:t>Corpo:</a:t>
            </a:r>
            <a:r>
              <a:rPr b="0" sz="1500" i="0" u="none">
                <a:solidFill>
                  <a:srgbClr val="64748B"/>
                </a:solidFill>
                <a:latin typeface="Inter"/>
              </a:rPr>
              <a:t> Onde o texto real é escrito.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119562"/>
            <a:ext cx="15716250" cy="944760"/>
          </a:xfrm>
          <a:prstGeom prst="roundRect">
            <a:avLst>
              <a:gd name="adj" fmla="val 1209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935450" y="1958280"/>
            <a:ext cx="2152650" cy="5267325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EDIÇÃO DIRETA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Formatação de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24362"/>
            <a:ext cx="112776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569CD6"/>
                </a:solidFill>
                <a:latin typeface="Fira Code"/>
              </a:rPr>
              <a:t>\textbf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Texto em negrito forte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\textit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Texto em itálico suave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\underline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Texto com sublinhado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\large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Aumenta o tamanho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92650" y="2415480"/>
            <a:ext cx="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Playfair Display"/>
              </a:rPr>
              <a:t>Texto em negrito forte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92650" y="3558480"/>
            <a:ext cx="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1" u="none">
                <a:solidFill>
                  <a:srgbClr val="1E293B"/>
                </a:solidFill>
                <a:latin typeface="Playfair Display"/>
              </a:rPr>
              <a:t>Texto em itálico suave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92650" y="4701480"/>
            <a:ext cx="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sng">
                <a:solidFill>
                  <a:srgbClr val="1E293B"/>
                </a:solidFill>
                <a:latin typeface="Playfair Display"/>
              </a:rPr>
              <a:t>Texto com sublinhado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92650" y="5539680"/>
            <a:ext cx="0" cy="1228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1E293B"/>
                </a:solidFill>
                <a:latin typeface="Playfair Display"/>
              </a:rPr>
              <a:t>Aumenta o tamanho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06760" y="4331940"/>
            <a:ext cx="8778478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81000" y="1573559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ORGANIZAÇÃO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1916459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Estruturação do Documento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3379440"/>
            <a:ext cx="1905000" cy="190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43500" y="3379440"/>
            <a:ext cx="1905000" cy="1905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77400" y="3379440"/>
            <a:ext cx="1905000" cy="1905000"/>
          </a:xfrm>
          <a:prstGeom prst="roundRect">
            <a:avLst>
              <a:gd name="adj" fmla="val 25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725" y="3979515"/>
            <a:ext cx="1428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Fira Code"/>
              </a:rPr>
              <a:t>\section{}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4303365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Divisão</a:t>
            </a:r>
            <a:r>
              <a:t>
</a:t>
            </a:r>
            <a:r>
              <a:rPr b="1" sz="1200" i="0" u="none">
                <a:solidFill>
                  <a:srgbClr val="1E293B"/>
                </a:solidFill>
                <a:latin typeface="Inter"/>
              </a:rPr>
              <a:t>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7312" y="3979515"/>
            <a:ext cx="18573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284C7"/>
                </a:solidFill>
                <a:latin typeface="Fira Code"/>
              </a:rPr>
              <a:t>\subsection{}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8312" y="4303365"/>
            <a:ext cx="10953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E293B"/>
                </a:solidFill>
                <a:latin typeface="Inter"/>
              </a:rPr>
              <a:t>Subdivisão</a:t>
            </a:r>
            <a:r>
              <a:t>
</a:t>
            </a:r>
            <a:r>
              <a:rPr b="1" sz="1200" i="0" u="none">
                <a:solidFill>
                  <a:srgbClr val="1E293B"/>
                </a:solidFill>
                <a:latin typeface="Inter"/>
              </a:rPr>
              <a:t> Lógica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150" y="3989040"/>
            <a:ext cx="20955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Fira Code"/>
              </a:rPr>
              <a:t>\tableofcontents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429384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Índice</a:t>
            </a:r>
            <a:r>
              <a:t>
</a:t>
            </a:r>
            <a:r>
              <a:rPr b="1" sz="1200" i="0" u="none">
                <a:solidFill>
                  <a:srgbClr val="FFFFFF"/>
                </a:solidFill>
                <a:latin typeface="Inter"/>
              </a:rPr>
              <a:t> Automático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63105"/>
            <a:ext cx="8001000" cy="731490"/>
          </a:xfrm>
          <a:prstGeom prst="roundRect">
            <a:avLst>
              <a:gd name="adj" fmla="val 1562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67800" y="2463105"/>
            <a:ext cx="7896225" cy="731490"/>
          </a:xfrm>
          <a:prstGeom prst="roundRect">
            <a:avLst>
              <a:gd name="adj" fmla="val 1562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TÓPICOS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Listas e Enumerações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958280"/>
            <a:ext cx="105013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Marcadores (Itemize)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691705"/>
            <a:ext cx="76390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569CD6"/>
                </a:solidFill>
                <a:latin typeface="Fira Code"/>
              </a:rPr>
              <a:t>\begin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itemize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\item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Primeiro ponto.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\item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Segundo ponto.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itemize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7800" y="1958280"/>
            <a:ext cx="3124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Inter"/>
              </a:rPr>
              <a:t>Números (Enumerate)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6400" y="2691705"/>
            <a:ext cx="28956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569CD6"/>
                </a:solidFill>
                <a:latin typeface="Fira Code"/>
              </a:rPr>
              <a:t>\begin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enumerate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\item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Passo inicial.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\item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Conclusão.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enumerate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385095"/>
            <a:ext cx="95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3195"/>
            <a:ext cx="9620250" cy="28575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Primeiro ponto.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670845"/>
            <a:ext cx="952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8945"/>
            <a:ext cx="9620250" cy="285750"/>
          </a:xfrm>
          <a:prstGeom prst="rect">
            <a:avLst/>
          </a:prstGeom>
          <a:noFill/>
        </p:spPr>
        <p:txBody>
          <a:bodyPr wrap="none" lIns="952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Segundo ponto.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0" y="3385095"/>
            <a:ext cx="13335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3423195"/>
            <a:ext cx="2819400" cy="28575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Passo inicial.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0675" y="3670845"/>
            <a:ext cx="1619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708945"/>
            <a:ext cx="2819400" cy="28575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ayfair Display"/>
              </a:rPr>
              <a:t>Conclusão.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10000"/>
          </a:xfrm>
          <a:prstGeom prst="rect">
            <a:avLst/>
          </a:prstGeom>
          <a:solidFill>
            <a:srgbClr val="0F172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457825"/>
            <a:ext cx="2905125" cy="581025"/>
          </a:xfrm>
          <a:prstGeom prst="roundRect">
            <a:avLst>
              <a:gd name="adj" fmla="val 131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0" y="5449192"/>
            <a:ext cx="5181600" cy="579090"/>
          </a:xfrm>
          <a:prstGeom prst="roundRect">
            <a:avLst>
              <a:gd name="adj" fmla="val 1973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459259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PODER NUMÉRICO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802159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ayfair Display"/>
              </a:rPr>
              <a:t>A linguagem universal da matemática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29150"/>
            <a:ext cx="68008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Fórmula na Linha (Inline)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057775"/>
            <a:ext cx="6477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Usa-se </a:t>
            </a:r>
            <a:r>
              <a:rPr b="0" sz="1500" i="0" u="none">
                <a:latin typeface="Inter"/>
              </a:rPr>
              <a:t>$...$</a:t>
            </a:r>
            <a:r>
              <a:rPr b="0" sz="1500" i="0" u="none">
                <a:solidFill>
                  <a:srgbClr val="64748B"/>
                </a:solidFill>
                <a:latin typeface="Inter"/>
              </a:rPr>
              <a:t> no meio do 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610225"/>
            <a:ext cx="26955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Fira Code"/>
              </a:rPr>
              <a:t>A energia é </a:t>
            </a:r>
            <a:r>
              <a:rPr b="0" sz="1650" i="0" u="none">
                <a:latin typeface="Fira Code"/>
              </a:rPr>
              <a:t>$E=mc^2$</a:t>
            </a:r>
            <a:r>
              <a:rPr b="0" sz="1650" i="0" u="none">
                <a:solidFill>
                  <a:srgbClr val="1E293B"/>
                </a:solidFill>
                <a:latin typeface="Fira Code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639567"/>
            <a:ext cx="57912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Fórmula em Bloco (Display)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68192"/>
            <a:ext cx="5791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Ambiente dedicado para destaque.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5601592"/>
            <a:ext cx="49720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569CD6"/>
                </a:solidFill>
                <a:latin typeface="Fira Code"/>
              </a:rPr>
              <a:t>\begin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equation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350" i="0" u="none">
                <a:solidFill>
                  <a:srgbClr val="D4D4D4"/>
                </a:solidFill>
                <a:latin typeface="Fira Code"/>
              </a:rPr>
              <a:t> E=mc^2 </a:t>
            </a:r>
            <a:r>
              <a:rPr b="0" sz="135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350" i="0" u="none">
                <a:solidFill>
                  <a:srgbClr val="CE9178"/>
                </a:solidFill>
                <a:latin typeface="Fira Code"/>
              </a:rPr>
              <a:t>equation</a:t>
            </a:r>
            <a:r>
              <a:rPr b="0" sz="13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554759"/>
            <a:ext cx="7077075" cy="1097160"/>
          </a:xfrm>
          <a:prstGeom prst="roundRect">
            <a:avLst>
              <a:gd name="adj" fmla="val 104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275" y="1958280"/>
            <a:ext cx="3286125" cy="42901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263" y="3493740"/>
            <a:ext cx="2902148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SINTAXE EXATA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52500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Matemática Avançada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3935759"/>
            <a:ext cx="641032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569CD6"/>
                </a:solidFill>
                <a:latin typeface="Fira Code"/>
              </a:rPr>
              <a:t>\int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_{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a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}^{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b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x^2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\,dx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6A9955"/>
                </a:solidFill>
                <a:latin typeface="Fira Code"/>
              </a:rPr>
              <a:t>% Cálculo de área sob a curva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06909" y="2888902"/>
            <a:ext cx="3111698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18608" y="2888902"/>
            <a:ext cx="5666482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909" y="3703290"/>
            <a:ext cx="311169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18608" y="3703290"/>
            <a:ext cx="5666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6909" y="4474815"/>
            <a:ext cx="311169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18608" y="4474815"/>
            <a:ext cx="5666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06909" y="5246340"/>
            <a:ext cx="311169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18608" y="5246340"/>
            <a:ext cx="5666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6909" y="6017865"/>
            <a:ext cx="311169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608" y="6017865"/>
            <a:ext cx="5666482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06909" y="2174527"/>
          <a:ext cx="8778180" cy="38576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111698"/>
                <a:gridCol w="5666482"/>
              </a:tblGrid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FFFFFF"/>
                          </a:solidFill>
                          <a:latin typeface="Inter"/>
                        </a:rPr>
                        <a:t>Símbolo de Código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FFFFFF"/>
                          </a:solidFill>
                          <a:latin typeface="Inter"/>
                        </a:rPr>
                        <a:t>Ação na Tabela LaTeX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E11D48"/>
                          </a:solidFill>
                          <a:latin typeface="Fira Code"/>
                        </a:rPr>
                        <a:t>&amp;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1E293B"/>
                          </a:solidFill>
                          <a:latin typeface="Inter"/>
                        </a:rPr>
                        <a:t>Avança para a próxima coluna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E11D48"/>
                          </a:solidFill>
                          <a:latin typeface="Fira Code"/>
                        </a:rPr>
                        <a:t>\\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1E293B"/>
                          </a:solidFill>
                          <a:latin typeface="Inter"/>
                        </a:rPr>
                        <a:t>Finaliza e inicia uma nova linha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E11D48"/>
                          </a:solidFill>
                          <a:latin typeface="Fira Code"/>
                        </a:rPr>
                        <a:t>\hline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1E293B"/>
                          </a:solidFill>
                          <a:latin typeface="Inter"/>
                        </a:rPr>
                        <a:t>Desenha linha divisória horizontal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algn="l"/>
                      <a:r>
                        <a:rPr b="1" sz="1800" i="0" u="none">
                          <a:solidFill>
                            <a:srgbClr val="E11D48"/>
                          </a:solidFill>
                          <a:latin typeface="Fira Code"/>
                        </a:rPr>
                        <a:t>{ c l r 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800" i="0" u="none">
                          <a:solidFill>
                            <a:srgbClr val="1E293B"/>
                          </a:solidFill>
                          <a:latin typeface="Inter"/>
                        </a:rPr>
                        <a:t>Alinhamento: Centro, Esquerda, Direita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DADOS VISUAIS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81000" y="9525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Tabelas Estruturadas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48125" y="2956619"/>
            <a:ext cx="19554825" cy="944760"/>
          </a:xfrm>
          <a:prstGeom prst="roundRect">
            <a:avLst>
              <a:gd name="adj" fmla="val 1209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52925" y="3261419"/>
            <a:ext cx="78390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569CD6"/>
                </a:solidFill>
                <a:latin typeface="Fira Code"/>
              </a:rPr>
              <a:t>\begin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figure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}[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htbp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]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\centering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\includegraphics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[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width=0.8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\textwidth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]{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grafico.png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\caption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Resultado do experimento.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\label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fig:resultado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  <a:r>
              <a:rPr b="0" sz="1650" i="0" u="none">
                <a:solidFill>
                  <a:srgbClr val="D4D4D4"/>
                </a:solidFill>
                <a:latin typeface="Fira Code"/>
              </a:rPr>
              <a:t> </a:t>
            </a:r>
            <a:r>
              <a:rPr b="0" sz="165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650" i="0" u="none">
                <a:solidFill>
                  <a:srgbClr val="CE9178"/>
                </a:solidFill>
                <a:latin typeface="Fira Code"/>
              </a:rPr>
              <a:t>figure</a:t>
            </a:r>
            <a:r>
              <a:rPr b="0" sz="165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6807"/>
            <a:ext cx="3536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ELEMENTOS GRÁFICOS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9707"/>
            <a:ext cx="3070383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Inserção de Imagens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544067"/>
            <a:ext cx="1143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544067"/>
            <a:ext cx="2695575" cy="847725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Pacote essencial: </a:t>
            </a:r>
            <a:r>
              <a:rPr b="0" sz="1650" i="0" u="none">
                <a:latin typeface="Inter"/>
              </a:rPr>
              <a:t>\usepackage{graphicx}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391792"/>
            <a:ext cx="1143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91792"/>
            <a:ext cx="2695575" cy="8382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Escala automática proporcional.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229992"/>
            <a:ext cx="1143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29992"/>
            <a:ext cx="2695575" cy="8382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Posicionamento flutuante inteligente.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5068192"/>
            <a:ext cx="1143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68192"/>
            <a:ext cx="2695575" cy="8382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0" sz="1650" i="0" u="none">
                <a:solidFill>
                  <a:srgbClr val="1E293B"/>
                </a:solidFill>
                <a:latin typeface="Inter"/>
              </a:rPr>
              <a:t>Legendas automáticas numeradas.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09950" y="2355502"/>
            <a:ext cx="5372100" cy="1095375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705225" y="4946302"/>
            <a:ext cx="4781550" cy="1057275"/>
          </a:xfrm>
          <a:prstGeom prst="roundRect">
            <a:avLst>
              <a:gd name="adj" fmla="val 14414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76950" y="3679477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76950" y="4336702"/>
            <a:ext cx="38100" cy="381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5400" y="854422"/>
            <a:ext cx="2476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CONEXÕES INTERNAS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9261" y="1197322"/>
            <a:ext cx="7813476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O fim da numeração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95637" y="2584102"/>
            <a:ext cx="5800725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1E293B"/>
                </a:solidFill>
                <a:latin typeface="Fira Code"/>
              </a:rPr>
              <a:t>\label{fig:mapa}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4731" y="5174902"/>
            <a:ext cx="506253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600" i="0" u="none">
                <a:solidFill>
                  <a:srgbClr val="FFFFFF"/>
                </a:solidFill>
                <a:latin typeface="Fira Code"/>
              </a:rPr>
              <a:t>\ref{fig:mapa}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6337" y="4022377"/>
            <a:ext cx="2219325" cy="352425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521" y="4098577"/>
            <a:ext cx="231695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Conecta e Sincroniza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7465"/>
            <a:ext cx="3454449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817465"/>
            <a:ext cx="3454449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17465"/>
            <a:ext cx="3454449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817465"/>
            <a:ext cx="3454449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2817465"/>
            <a:ext cx="3454449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817465"/>
            <a:ext cx="3454449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331815"/>
            <a:ext cx="333375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49" y="3331815"/>
            <a:ext cx="3429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99" y="3331815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609600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Inter"/>
              </a:rPr>
              <a:t>PADRONIZAÇÃO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952500"/>
            <a:ext cx="129540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Citações e Bibliografia (BibTeX)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941415"/>
            <a:ext cx="333381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Arquivo .bib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331940"/>
            <a:ext cx="2635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Banco de dados separado apenas com as informações puras das fontes.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49" y="3941415"/>
            <a:ext cx="333381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Comando \cite{}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49" y="4331940"/>
            <a:ext cx="2635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Insere a citação no texto e puxa os dados do banco automaticamente.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5299" y="3941415"/>
            <a:ext cx="333381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Normas ABNT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5299" y="4331940"/>
            <a:ext cx="2635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 lista final é gerada e formatada sozinha conforme a norma exigida.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390775" y="3322290"/>
            <a:ext cx="2362200" cy="1009650"/>
          </a:xfrm>
          <a:prstGeom prst="roundRect">
            <a:avLst>
              <a:gd name="adj" fmla="val 1132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15075" y="2912715"/>
            <a:ext cx="348615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5075" y="3941415"/>
            <a:ext cx="348615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75" y="3236565"/>
            <a:ext cx="9525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57812" y="1411634"/>
            <a:ext cx="1845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MODULARIDADE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5575" y="1754534"/>
            <a:ext cx="892611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Arquitetura de Projetos Grandes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8450" y="5198715"/>
            <a:ext cx="8143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Inter"/>
              </a:rPr>
              <a:t>Divida teses inteiras em arquivos separados para facilitar a edição.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7975" y="3627090"/>
            <a:ext cx="1543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400" i="0" u="none">
                <a:solidFill>
                  <a:srgbClr val="FFFFFF"/>
                </a:solidFill>
                <a:latin typeface="Fira Code"/>
              </a:rPr>
              <a:t>main.tex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141315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Fira Code"/>
              </a:rPr>
              <a:t>\include{capitulo1}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170015"/>
            <a:ext cx="266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93B"/>
                </a:solidFill>
                <a:latin typeface="Fira Code"/>
              </a:rPr>
              <a:t>\include{capitulo2}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11859"/>
            <a:ext cx="200025" cy="247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14750"/>
            <a:ext cx="20002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1764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20530"/>
            <a:ext cx="200025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1748879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O OBJETIVO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91779"/>
            <a:ext cx="64008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A Monografia Perfeita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97559"/>
            <a:ext cx="6096000" cy="50289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Capa e Folha de Rosto padronizadas.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600450"/>
            <a:ext cx="6096000" cy="50289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Resumo e Abstract integrados.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103340"/>
            <a:ext cx="6096000" cy="50289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Listas de Figuras e Tabelas automáticas.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06230"/>
            <a:ext cx="6096000" cy="50289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Capítulos e Apêndices estruturados.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0237" y="2021234"/>
            <a:ext cx="10572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nter"/>
              </a:rPr>
              <a:t>RESUMO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52762" y="2364134"/>
            <a:ext cx="7988498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1E293B"/>
                </a:solidFill>
                <a:latin typeface="Playfair Display"/>
              </a:rPr>
              <a:t>Por que adotar o LaTeX hoje?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34803" y="3674715"/>
            <a:ext cx="246459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4803" y="4560540"/>
            <a:ext cx="24645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E293B"/>
                </a:solidFill>
                <a:latin typeface="Inter"/>
              </a:rPr>
              <a:t>Foco no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3696" y="3674715"/>
            <a:ext cx="2488406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696" y="4560540"/>
            <a:ext cx="24884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E293B"/>
                </a:solidFill>
                <a:latin typeface="Inter"/>
              </a:rPr>
              <a:t>Quebras de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878" y="3674715"/>
            <a:ext cx="2559843" cy="733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284C7"/>
                </a:solidFill>
                <a:latin typeface="Inter"/>
              </a:rP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878" y="4560540"/>
            <a:ext cx="255984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1E293B"/>
                </a:solidFill>
                <a:latin typeface="Inter"/>
              </a:rPr>
              <a:t>Qualidade editorial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57750" y="4148137"/>
            <a:ext cx="2476500" cy="609600"/>
          </a:xfrm>
          <a:prstGeom prst="roundRect">
            <a:avLst>
              <a:gd name="adj" fmla="val 12500"/>
            </a:avLst>
          </a:prstGeom>
          <a:solidFill>
            <a:srgbClr val="272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32954" y="2100262"/>
            <a:ext cx="8726090" cy="809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Playfair Display"/>
              </a:rPr>
              <a:t>Prontos para compilar?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138487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CBD5E1"/>
                </a:solidFill>
                <a:latin typeface="Inter"/>
              </a:rPr>
              <a:t>Abram o Overleaf e vamos começar o primeiro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2987" y="4300537"/>
            <a:ext cx="2486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569CD6"/>
                </a:solidFill>
                <a:latin typeface="Fira Code"/>
              </a:rPr>
              <a:t>\end</a:t>
            </a:r>
            <a:r>
              <a:rPr b="0" sz="1800" i="0" u="none">
                <a:solidFill>
                  <a:srgbClr val="FFD700"/>
                </a:solidFill>
                <a:latin typeface="Fira Code"/>
              </a:rPr>
              <a:t>{</a:t>
            </a:r>
            <a:r>
              <a:rPr b="0" sz="1800" i="0" u="none">
                <a:solidFill>
                  <a:srgbClr val="CE9178"/>
                </a:solidFill>
                <a:latin typeface="Fira Code"/>
              </a:rPr>
              <a:t>document</a:t>
            </a:r>
            <a:r>
              <a:rPr b="0" sz="1800" i="0" u="none">
                <a:solidFill>
                  <a:srgbClr val="FFD700"/>
                </a:solidFill>
                <a:latin typeface="Fira Code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